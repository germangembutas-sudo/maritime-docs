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79" autoAdjust="0"/>
  </p:normalViewPr>
  <p:slideViewPr>
    <p:cSldViewPr snapToGrid="0">
      <p:cViewPr varScale="1">
        <p:scale>
          <a:sx n="65" d="100"/>
          <a:sy n="65" d="100"/>
        </p:scale>
        <p:origin x="72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/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/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EC2C2-37E9-4757-8DD8-D5018EBD4955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8E4BA-EF7F-478B-85FE-DFB70B3B4D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A3558-1824-45CD-B491-F8E741C33850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B1F70-306A-4CC8-8DA4-0AC8A324F8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/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/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3DF5B-19F5-439D-814F-C7C093BDA17F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8428D-2237-4348-B3BD-7C0D171723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AC4CF-51BB-45E8-A3C6-1A6E836F18C3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6EBC3-AF30-44B2-B971-91B944568B1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anchor="b"/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28524-9784-44D9-AE96-116B5BAC201A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D102D-5EB9-4F13-8330-EE9B590BA3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1788B-976F-4436-82FA-66150751F0BB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E64DF-60D0-4CA5-B6C5-AB9C1B09E6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BAF4D-7D22-40D5-8A24-17317901BB79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CACF3-03A9-41FB-AA9D-B5469CDE42E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0949E-6DF4-441C-BD2B-5CB99D528D3A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F0077-270C-48EE-B130-1B67278EDD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25FC7-8486-490B-B394-07BBE74530FA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1CABC-7A36-458E-9504-214FE0E8EF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3D138-501F-4946-85B5-3E26690F54CA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7AE85-6B8A-42ED-B667-CE8457927C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A32A1-6C1E-4390-B27C-EFF58B729814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55CC7-F4E4-4440-A9C9-090F0229307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/>
          <p:cNvSpPr txBox="1"/>
          <p:nvPr/>
        </p:nvSpPr>
        <p:spPr>
          <a:xfrm>
            <a:off x="1111250" y="7874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8000" dirty="0">
                <a:effectLst/>
                <a:latin typeface="+mn-lt"/>
              </a:rPr>
              <a:t>“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10437813" y="27432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lang="en-US" sz="8000" dirty="0">
                <a:effectLst/>
                <a:latin typeface="+mn-lt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83FCC-8254-4A36-BDC4-61109F361918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4107F-AE0B-4007-80FE-18AEEDF02BE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5D86E-4900-4ED5-8500-C52CA10E8B0F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4202A-2BA2-4E57-8F2E-BC936E9ECA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6C8AC-CD2D-4E03-8C12-1F287478DF71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7A144-6134-4BED-9977-762937E6B4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F12F8-C40A-4D02-BB4F-2CB32A655522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EF7E0-ECF8-4D9D-9164-31236DB5BB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4080A-3760-4E83-BC21-FCF1EC5AFB89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70F8B-E30E-4A1B-83C9-26022744D0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01A03-B78E-48D7-BEF3-319BCC35F565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DB631-8028-4A33-9DD2-F45002A557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775" y="1825625"/>
            <a:ext cx="10233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</a:defRPr>
            </a:lvl1pPr>
          </a:lstStyle>
          <a:p>
            <a:pPr>
              <a:defRPr/>
            </a:pPr>
            <a:fld id="{9FEA1250-5897-4200-9A6D-173C6CFF92EA}" type="datetimeFigureOut">
              <a:rPr lang="ru-RU"/>
              <a:pPr>
                <a:defRPr/>
              </a:pPr>
              <a:t>06.11.2019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</a:defRPr>
            </a:lvl1pPr>
          </a:lstStyle>
          <a:p>
            <a:pPr>
              <a:defRPr/>
            </a:pPr>
            <a:fld id="{3893282D-8C79-4498-BB36-578A293CD5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0" r:id="rId2"/>
    <p:sldLayoutId id="2147483729" r:id="rId3"/>
    <p:sldLayoutId id="2147483728" r:id="rId4"/>
    <p:sldLayoutId id="2147483727" r:id="rId5"/>
    <p:sldLayoutId id="2147483726" r:id="rId6"/>
    <p:sldLayoutId id="2147483725" r:id="rId7"/>
    <p:sldLayoutId id="2147483724" r:id="rId8"/>
    <p:sldLayoutId id="2147483723" r:id="rId9"/>
    <p:sldLayoutId id="2147483722" r:id="rId10"/>
    <p:sldLayoutId id="2147483721" r:id="rId11"/>
    <p:sldLayoutId id="2147483732" r:id="rId12"/>
    <p:sldLayoutId id="2147483720" r:id="rId13"/>
    <p:sldLayoutId id="2147483719" r:id="rId14"/>
    <p:sldLayoutId id="2147483718" r:id="rId15"/>
    <p:sldLayoutId id="2147483717" r:id="rId16"/>
    <p:sldLayoutId id="2147483716" r:id="rId17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540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37059" y="5359545"/>
            <a:ext cx="9144000" cy="754025"/>
          </a:xfrm>
        </p:spPr>
        <p:txBody>
          <a:bodyPr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Выполнили: курсанты  416 группы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Коваленко В.А., </a:t>
            </a:r>
            <a:r>
              <a:rPr lang="ru-RU" dirty="0" err="1" smtClean="0"/>
              <a:t>Прошкин</a:t>
            </a:r>
            <a:r>
              <a:rPr lang="ru-RU" dirty="0" smtClean="0"/>
              <a:t> А.А., Медведев В.С., Пономарев Л.Н.</a:t>
            </a:r>
            <a:endParaRPr lang="ru-RU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68313" y="2543175"/>
            <a:ext cx="1113631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ru-RU" sz="6000"/>
              <a:t>Технология перевозки нефти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657225" y="1312863"/>
            <a:ext cx="10339388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</a:pPr>
            <a:r>
              <a:rPr lang="ru-RU" dirty="0"/>
              <a:t> В соответствии с </a:t>
            </a:r>
            <a:r>
              <a:rPr lang="en-US" dirty="0"/>
              <a:t>MARPOL 73/78 </a:t>
            </a:r>
            <a:r>
              <a:rPr lang="ru-RU" dirty="0"/>
              <a:t>Приложение 1 Глава 1 Общие положения </a:t>
            </a:r>
          </a:p>
          <a:p>
            <a:pPr defTabSz="914400">
              <a:spcBef>
                <a:spcPct val="50000"/>
              </a:spcBef>
            </a:pPr>
            <a:r>
              <a:rPr lang="ru-RU" sz="2400" dirty="0"/>
              <a:t>Нефть означает нефть в любом виде, включая сырую нефть, жидкое топливо,     нефтесодержащие осадки, нефтяные остатки, очищенные нефтепродукты.</a:t>
            </a:r>
          </a:p>
          <a:p>
            <a:pPr defTabSz="914400">
              <a:spcBef>
                <a:spcPct val="50000"/>
              </a:spcBef>
            </a:pPr>
            <a:endParaRPr lang="ru-RU" sz="2400" dirty="0"/>
          </a:p>
          <a:p>
            <a:pPr defTabSz="914400">
              <a:spcBef>
                <a:spcPct val="50000"/>
              </a:spcBef>
            </a:pPr>
            <a:r>
              <a:rPr lang="ru-RU" sz="2400" dirty="0"/>
              <a:t>Существуют разные типы судов, которые перевозят данные </a:t>
            </a:r>
            <a:r>
              <a:rPr lang="ru-RU" sz="2400" dirty="0" smtClean="0"/>
              <a:t>виды </a:t>
            </a:r>
            <a:r>
              <a:rPr lang="ru-RU" sz="2400" dirty="0"/>
              <a:t>нефти, но мы будем вести </a:t>
            </a:r>
            <a:r>
              <a:rPr lang="ru-RU" sz="2400" dirty="0" smtClean="0"/>
              <a:t>разговор, в основном, </a:t>
            </a:r>
            <a:r>
              <a:rPr lang="ru-RU" sz="2400" dirty="0"/>
              <a:t>про сырую нефть, занимающую огромную часть рынка. </a:t>
            </a:r>
          </a:p>
          <a:p>
            <a:pPr defTabSz="914400">
              <a:spcBef>
                <a:spcPct val="50000"/>
              </a:spcBef>
            </a:pPr>
            <a:r>
              <a:rPr lang="ru-RU" sz="2400" dirty="0" smtClean="0"/>
              <a:t>Перевозкой сырой нефти занимаются танкеры, предназначенные для перевозки наливом.</a:t>
            </a:r>
            <a:endParaRPr lang="ru-R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4000" dirty="0"/>
              <a:t>Нормативные документы, регламентирующие перевозку нефтепродуктов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351338"/>
          </a:xfrm>
        </p:spPr>
        <p:txBody>
          <a:bodyPr>
            <a:normAutofit fontScale="92500" lnSpcReduction="10000"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/>
              <a:t>Перевозку нефтепродуктов регламентируют следующие документы: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1) 7-М Общие и специальные правила перевозки наливных грузов;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2) Международное руководство по безопасности для нефтяных танкеров и терминалов </a:t>
            </a:r>
            <a:r>
              <a:rPr lang="ru-RU" dirty="0" smtClean="0"/>
              <a:t>ISGOTT;</a:t>
            </a:r>
            <a:endParaRPr lang="ru-RU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3) </a:t>
            </a:r>
            <a:r>
              <a:rPr lang="ru-RU" dirty="0" smtClean="0"/>
              <a:t>Кодекс Внутреннего Водного Транспорта  </a:t>
            </a:r>
            <a:r>
              <a:rPr lang="ru-RU" dirty="0"/>
              <a:t>РФ;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4) ГОСТ Р 51858-2002 </a:t>
            </a:r>
            <a:r>
              <a:rPr lang="ru-RU" dirty="0" smtClean="0"/>
              <a:t>Нефть. </a:t>
            </a:r>
            <a:r>
              <a:rPr lang="ru-RU" dirty="0"/>
              <a:t>Общие технические </a:t>
            </a:r>
            <a:r>
              <a:rPr lang="ru-RU" dirty="0" smtClean="0"/>
              <a:t>условия</a:t>
            </a:r>
            <a:r>
              <a:rPr lang="ru-RU" dirty="0" smtClean="0"/>
              <a:t>;</a:t>
            </a:r>
            <a:endParaRPr lang="ru-RU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5) Общие технические условия (с изм. № 1 – 2) ГОСТ 1510-84 Нефть и нефтепродукты. Маркировка, упаковка, транспортирование и хранение (с изм. № 1 – 5);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/>
              <a:t>6) Международная конвенция по предотвращению загрязнения с судов МАРПОЛ 73/78.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t-EE" sz="4400" dirty="0" smtClean="0"/>
              <a:t/>
            </a:r>
            <a:br>
              <a:rPr lang="et-EE" sz="4400" dirty="0" smtClean="0"/>
            </a:br>
            <a:r>
              <a:rPr lang="ru-RU" sz="4400" dirty="0" smtClean="0"/>
              <a:t>Классификация</a:t>
            </a:r>
            <a:r>
              <a:rPr lang="ru-RU" sz="4400" dirty="0"/>
              <a:t>, свойства и условное обозначение </a:t>
            </a:r>
            <a:r>
              <a:rPr lang="ru-RU" sz="4400" dirty="0" smtClean="0"/>
              <a:t>нефти</a:t>
            </a:r>
            <a:r>
              <a:rPr lang="ru-RU" sz="4400" dirty="0"/>
              <a:t/>
            </a:r>
            <a:br>
              <a:rPr lang="ru-RU" sz="4400" dirty="0"/>
            </a:b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3425" y="1908175"/>
            <a:ext cx="10750616" cy="4351338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3200" dirty="0"/>
              <a:t>(МАРПОЛ 73/78. Глава 9</a:t>
            </a:r>
            <a:r>
              <a:rPr lang="ru-RU" sz="3200" dirty="0" smtClean="0"/>
              <a:t>)</a:t>
            </a:r>
            <a:endParaRPr lang="et-EE" sz="3200" dirty="0" smtClean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2000" dirty="0"/>
              <a:t>По степени опасности для морской среды нефти подразделяются на «темные» и «</a:t>
            </a:r>
            <a:r>
              <a:rPr lang="ru-RU" sz="2000" dirty="0" smtClean="0"/>
              <a:t>светлые»: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t-EE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0700" y="2887663"/>
            <a:ext cx="2406650" cy="509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/>
              <a:t>Темные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20038" y="2887663"/>
            <a:ext cx="2406650" cy="509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/>
              <a:t>Светлые</a:t>
            </a:r>
          </a:p>
        </p:txBody>
      </p:sp>
      <p:sp>
        <p:nvSpPr>
          <p:cNvPr id="22533" name="TextBox 5"/>
          <p:cNvSpPr txBox="1">
            <a:spLocks noChangeArrowheads="1"/>
          </p:cNvSpPr>
          <p:nvPr/>
        </p:nvSpPr>
        <p:spPr bwMode="auto">
          <a:xfrm>
            <a:off x="838200" y="3727450"/>
            <a:ext cx="5216525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orbel" pitchFamily="34" charset="0"/>
              </a:rPr>
              <a:t>- сырая нефть;</a:t>
            </a:r>
          </a:p>
          <a:p>
            <a:r>
              <a:rPr lang="ru-RU" sz="2400">
                <a:latin typeface="Corbel" pitchFamily="34" charset="0"/>
              </a:rPr>
              <a:t>- растворы битума и асфальта;</a:t>
            </a:r>
          </a:p>
          <a:p>
            <a:r>
              <a:rPr lang="ru-RU" sz="2400">
                <a:latin typeface="Corbel" pitchFamily="34" charset="0"/>
              </a:rPr>
              <a:t>- различные масла;</a:t>
            </a:r>
          </a:p>
          <a:p>
            <a:r>
              <a:rPr lang="ru-RU" sz="2400">
                <a:latin typeface="Corbel" pitchFamily="34" charset="0"/>
              </a:rPr>
              <a:t>- тяжелое нефтяное топливо (мазуты, моторное топливо и тяжелое дизельное топливо)</a:t>
            </a:r>
          </a:p>
          <a:p>
            <a:endParaRPr lang="ru-RU">
              <a:latin typeface="Corbel" pitchFamily="34" charset="0"/>
            </a:endParaRPr>
          </a:p>
        </p:txBody>
      </p:sp>
      <p:sp>
        <p:nvSpPr>
          <p:cNvPr id="22534" name="TextBox 6"/>
          <p:cNvSpPr txBox="1">
            <a:spLocks noChangeArrowheads="1"/>
          </p:cNvSpPr>
          <p:nvPr/>
        </p:nvSpPr>
        <p:spPr bwMode="auto">
          <a:xfrm>
            <a:off x="7180263" y="3727450"/>
            <a:ext cx="4408487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orbel" pitchFamily="34" charset="0"/>
              </a:rPr>
              <a:t>- дизельное топливо;</a:t>
            </a:r>
          </a:p>
          <a:p>
            <a:r>
              <a:rPr lang="ru-RU" sz="2400">
                <a:latin typeface="Corbel" pitchFamily="34" charset="0"/>
              </a:rPr>
              <a:t>- керосин;</a:t>
            </a:r>
          </a:p>
          <a:p>
            <a:r>
              <a:rPr lang="ru-RU" sz="2400">
                <a:latin typeface="Corbel" pitchFamily="34" charset="0"/>
              </a:rPr>
              <a:t>- топливо для реактивных ракет;</a:t>
            </a:r>
          </a:p>
          <a:p>
            <a:r>
              <a:rPr lang="ru-RU" sz="2400">
                <a:latin typeface="Corbel" pitchFamily="34" charset="0"/>
              </a:rPr>
              <a:t>- бензины и другие нефтепродукты.</a:t>
            </a:r>
          </a:p>
          <a:p>
            <a:endParaRPr lang="ru-RU" sz="2400">
              <a:latin typeface="Corbe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Box 1"/>
          <p:cNvSpPr txBox="1">
            <a:spLocks noChangeArrowheads="1"/>
          </p:cNvSpPr>
          <p:nvPr/>
        </p:nvSpPr>
        <p:spPr bwMode="auto">
          <a:xfrm>
            <a:off x="396875" y="563563"/>
            <a:ext cx="11047413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latin typeface="Corbel" pitchFamily="34" charset="0"/>
              </a:rPr>
              <a:t>По содержанию серы нефти подразделяются на:</a:t>
            </a:r>
          </a:p>
          <a:p>
            <a:endParaRPr lang="en-US" dirty="0">
              <a:latin typeface="Corbel" pitchFamily="34" charset="0"/>
            </a:endParaRPr>
          </a:p>
          <a:p>
            <a:endParaRPr lang="ru-RU" dirty="0">
              <a:latin typeface="Corbel" pitchFamily="34" charset="0"/>
            </a:endParaRPr>
          </a:p>
          <a:p>
            <a:endParaRPr lang="ru-RU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en-US" dirty="0">
              <a:latin typeface="Corbel" pitchFamily="34" charset="0"/>
            </a:endParaRPr>
          </a:p>
          <a:p>
            <a:endParaRPr lang="ru-RU" dirty="0">
              <a:latin typeface="Corbe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6588" y="1192213"/>
            <a:ext cx="2181225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Малосернистые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 (до 0.5 %)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460875" y="1192213"/>
            <a:ext cx="2170113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Сернистые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(0.5 – 2%)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285163" y="1192213"/>
            <a:ext cx="216058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Высокосернистые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(свыше 2%)</a:t>
            </a:r>
          </a:p>
        </p:txBody>
      </p:sp>
      <p:sp>
        <p:nvSpPr>
          <p:cNvPr id="23557" name="TextBox 5"/>
          <p:cNvSpPr txBox="1">
            <a:spLocks noChangeArrowheads="1"/>
          </p:cNvSpPr>
          <p:nvPr/>
        </p:nvSpPr>
        <p:spPr bwMode="auto">
          <a:xfrm>
            <a:off x="396875" y="3055938"/>
            <a:ext cx="82581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orbel" pitchFamily="34" charset="0"/>
              </a:rPr>
              <a:t>По плотности нефти подразделяются на три группы:</a:t>
            </a:r>
            <a:endParaRPr lang="ru-RU">
              <a:latin typeface="Corbe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85163" y="3638550"/>
            <a:ext cx="2179637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Тяжелые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(р </a:t>
            </a:r>
            <a:r>
              <a:rPr lang="en-GB" dirty="0"/>
              <a:t>&gt;</a:t>
            </a:r>
            <a:r>
              <a:rPr lang="ru-RU" dirty="0"/>
              <a:t> 0,9100)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460875" y="3638550"/>
            <a:ext cx="2179638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Средние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(р = 0,8710 – 0,9100)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36588" y="3638550"/>
            <a:ext cx="2181225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Легкие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(р = 0,8700)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6588" y="4762798"/>
            <a:ext cx="9938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Плотность влияет на скорость истечения нефтепродуктов при выполнении операций по сливу и наливу, определяет возможность разогрева открытым паром и быстроту обезвоживания.</a:t>
            </a:r>
            <a:endParaRPr lang="ru-RU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4400" dirty="0"/>
              <a:t>Общие требования руководящих документов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4631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4000" dirty="0" smtClean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4000" dirty="0" smtClean="0"/>
              <a:t>Все </a:t>
            </a:r>
            <a:r>
              <a:rPr lang="ru-RU" sz="4000" dirty="0" smtClean="0"/>
              <a:t>общие требования направлены на исключение возможности искрообразования во избежание опасности возникновения взрыва и пожара, а также на предотвращение разлива. Сейчас мы приведем примеры данных требований.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/>
              <a:t>Подготовка к погрузке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4762" y="1567005"/>
            <a:ext cx="11543055" cy="4852267"/>
          </a:xfrm>
        </p:spPr>
        <p:txBody>
          <a:bodyPr/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sz="2400" dirty="0"/>
              <a:t>Документ: 7-М Общие и специальные правила </a:t>
            </a:r>
            <a:r>
              <a:rPr lang="ru-RU" sz="2400" dirty="0" smtClean="0"/>
              <a:t>перевозки наливных грузов</a:t>
            </a:r>
            <a:endParaRPr lang="ru-RU" sz="2400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pic>
        <p:nvPicPr>
          <p:cNvPr id="26627" name="Рисунок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438" y="2324100"/>
            <a:ext cx="2779712" cy="424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3220099" y="1987490"/>
            <a:ext cx="8532812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dirty="0"/>
              <a:t> РД 31.11.81. 36-81</a:t>
            </a:r>
          </a:p>
          <a:p>
            <a:endParaRPr lang="ru-RU" sz="3200" dirty="0"/>
          </a:p>
          <a:p>
            <a:endParaRPr lang="ru-RU" sz="3200" dirty="0">
              <a:latin typeface="Corbe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5338" y="2764572"/>
            <a:ext cx="81649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+mn-lt"/>
              </a:rPr>
              <a:t>Перед наливом представителем </a:t>
            </a:r>
            <a:r>
              <a:rPr lang="ru-RU" sz="2200" dirty="0" err="1">
                <a:latin typeface="+mn-lt"/>
              </a:rPr>
              <a:t>грузителя</a:t>
            </a:r>
            <a:r>
              <a:rPr lang="ru-RU" sz="2200" dirty="0">
                <a:latin typeface="+mn-lt"/>
              </a:rPr>
              <a:t> (фрахтователя) производится осмотр танков на предмет отсутствия в них посторонних предметов и проверки состояния </a:t>
            </a:r>
            <a:r>
              <a:rPr lang="ru-RU" sz="2200" dirty="0" err="1">
                <a:latin typeface="+mn-lt"/>
              </a:rPr>
              <a:t>внутреннеи</a:t>
            </a:r>
            <a:r>
              <a:rPr lang="ru-RU" sz="2200" dirty="0">
                <a:latin typeface="+mn-lt"/>
              </a:rPr>
              <a:t>̆ их поверхности с </a:t>
            </a:r>
            <a:r>
              <a:rPr lang="ru-RU" sz="2200" dirty="0" err="1">
                <a:latin typeface="+mn-lt"/>
              </a:rPr>
              <a:t>выдачеи</a:t>
            </a:r>
            <a:r>
              <a:rPr lang="ru-RU" sz="2200" dirty="0">
                <a:latin typeface="+mn-lt"/>
              </a:rPr>
              <a:t>̆ сертификата на пригодность танков к погрузке.</a:t>
            </a:r>
          </a:p>
          <a:p>
            <a:r>
              <a:rPr lang="ru-RU" sz="2200" dirty="0">
                <a:latin typeface="+mn-lt"/>
              </a:rPr>
              <a:t> Перед предъявлением грузовых танков к осмотру следует убедиться, что танки достаточно чисто вымыты.</a:t>
            </a:r>
          </a:p>
          <a:p>
            <a:r>
              <a:rPr lang="ru-RU" sz="2200" dirty="0">
                <a:latin typeface="+mn-lt"/>
              </a:rPr>
              <a:t>Проверка чистоты </a:t>
            </a:r>
            <a:r>
              <a:rPr lang="ru-RU" sz="2200" dirty="0" err="1">
                <a:latin typeface="+mn-lt"/>
              </a:rPr>
              <a:t>отмыва</a:t>
            </a:r>
            <a:r>
              <a:rPr lang="ru-RU" sz="2200" dirty="0">
                <a:latin typeface="+mn-lt"/>
              </a:rPr>
              <a:t> поверхности танков от каждого конкретного груза проводится в соответствии с </a:t>
            </a:r>
            <a:r>
              <a:rPr lang="ru-RU" sz="2200" dirty="0" err="1">
                <a:latin typeface="+mn-lt"/>
              </a:rPr>
              <a:t>методикои</a:t>
            </a:r>
            <a:r>
              <a:rPr lang="ru-RU" sz="2200" dirty="0">
                <a:latin typeface="+mn-lt"/>
              </a:rPr>
              <a:t>̆, </a:t>
            </a:r>
            <a:r>
              <a:rPr lang="ru-RU" sz="2200" dirty="0" err="1">
                <a:latin typeface="+mn-lt"/>
              </a:rPr>
              <a:t>приведеннои</a:t>
            </a:r>
            <a:r>
              <a:rPr lang="ru-RU" sz="2200" dirty="0">
                <a:latin typeface="+mn-lt"/>
              </a:rPr>
              <a:t>̆ в </a:t>
            </a:r>
            <a:r>
              <a:rPr lang="ru-RU" sz="2200" dirty="0" smtClean="0">
                <a:latin typeface="+mn-lt"/>
              </a:rPr>
              <a:t>ТУМП(Технические Условия Морской Перевозки)(РД 31.11.81)</a:t>
            </a:r>
            <a:endParaRPr lang="ru-RU" sz="2200" dirty="0">
              <a:latin typeface="+mn-lt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3518" y="392835"/>
            <a:ext cx="10515600" cy="1325563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/>
              <a:t>Погрузка нефти</a:t>
            </a:r>
            <a:endParaRPr lang="ru-RU" dirty="0"/>
          </a:p>
        </p:txBody>
      </p:sp>
      <p:pic>
        <p:nvPicPr>
          <p:cNvPr id="27650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3050" y="1874838"/>
            <a:ext cx="6183313" cy="4498975"/>
          </a:xfrm>
        </p:spPr>
      </p:pic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6456363" y="1874838"/>
            <a:ext cx="565308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latin typeface="Corbel" pitchFamily="34" charset="0"/>
              </a:rPr>
              <a:t>Документ: ГОСТ Р 51858-2002 Нефть</a:t>
            </a:r>
            <a:r>
              <a:rPr lang="ru-RU" sz="2400" dirty="0"/>
              <a:t>. </a:t>
            </a:r>
            <a:r>
              <a:rPr lang="ru-RU" sz="2400" dirty="0">
                <a:latin typeface="+mn-lt"/>
              </a:rPr>
              <a:t>Общие технические условия</a:t>
            </a:r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6456363" y="2878138"/>
            <a:ext cx="5411787" cy="295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>
                <a:latin typeface="Corbel" pitchFamily="34" charset="0"/>
              </a:rPr>
              <a:t>Нефть принимают партиями. Партией считают любое количество нефти, сопровождаемое одним документом о качестве. Для проверки соответствия нефти требованиям настоящего стандарта проводят приемосдаточные и периодические испытания.</a:t>
            </a:r>
          </a:p>
          <a:p>
            <a:endParaRPr lang="ru-RU">
              <a:latin typeface="Corbe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/>
              <a:t>Перевозка нефти</a:t>
            </a:r>
            <a:endParaRPr lang="ru-RU" dirty="0"/>
          </a:p>
        </p:txBody>
      </p:sp>
      <p:pic>
        <p:nvPicPr>
          <p:cNvPr id="28674" name="Рисунок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3" y="1690688"/>
            <a:ext cx="6021387" cy="501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TextBox 4"/>
          <p:cNvSpPr txBox="1">
            <a:spLocks noChangeArrowheads="1"/>
          </p:cNvSpPr>
          <p:nvPr/>
        </p:nvSpPr>
        <p:spPr bwMode="auto">
          <a:xfrm>
            <a:off x="6326188" y="1865313"/>
            <a:ext cx="570865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latin typeface="Corbel" pitchFamily="34" charset="0"/>
              </a:rPr>
              <a:t>Документ: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orbel" pitchFamily="34" charset="0"/>
              </a:rPr>
              <a:t> 7-М Общие и специальные правила перевозки наливных </a:t>
            </a:r>
            <a:r>
              <a:rPr lang="ru-RU" sz="2400" dirty="0" smtClean="0">
                <a:latin typeface="Corbel" pitchFamily="34" charset="0"/>
              </a:rPr>
              <a:t>грузов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orbel" pitchFamily="34" charset="0"/>
              </a:rPr>
              <a:t>РД 31.11.81. 36-81 </a:t>
            </a:r>
            <a:endParaRPr lang="ru-RU" sz="2400" dirty="0">
              <a:latin typeface="Corbe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26188" y="3628103"/>
            <a:ext cx="5610327" cy="2880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326188" y="3609598"/>
            <a:ext cx="51029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latin typeface="+mn-lt"/>
              </a:rPr>
              <a:t>Перевозка нефти в танках</a:t>
            </a:r>
          </a:p>
          <a:p>
            <a:pPr marL="514350" indent="-514350">
              <a:buFont typeface="+mj-lt"/>
              <a:buAutoNum type="arabicPeriod"/>
            </a:pPr>
            <a:endParaRPr lang="ru-RU" sz="3200" dirty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latin typeface="+mn-lt"/>
              </a:rPr>
              <a:t>Перевозка нефти в таре</a:t>
            </a:r>
            <a:endParaRPr lang="ru-RU" sz="3200" dirty="0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/>
              <a:t>Выгрузка нефти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351338"/>
          </a:xfrm>
        </p:spPr>
        <p:txBody>
          <a:bodyPr/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dirty="0" smtClean="0"/>
              <a:t>Документ: </a:t>
            </a:r>
            <a:r>
              <a:rPr lang="ru-RU" dirty="0"/>
              <a:t>РД 31.11.81.36-8</a:t>
            </a:r>
          </a:p>
        </p:txBody>
      </p:sp>
      <p:sp>
        <p:nvSpPr>
          <p:cNvPr id="29699" name="TextBox 3"/>
          <p:cNvSpPr txBox="1">
            <a:spLocks noChangeArrowheads="1"/>
          </p:cNvSpPr>
          <p:nvPr/>
        </p:nvSpPr>
        <p:spPr bwMode="auto">
          <a:xfrm>
            <a:off x="488950" y="2762250"/>
            <a:ext cx="11047413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800">
                <a:latin typeface="Corbel" pitchFamily="34" charset="0"/>
              </a:rPr>
              <a:t>С приходом танкера в порт выгрузки на основании обмена информацией между судном и грузополучателем разрабатывается план разгрузки, содержащий указания об интенсивности разгрузки, максимально допустимом давлении в грузовых шлангах и стендерах, средствах связи, а также о работе камбуза, режиме курения и других вопросах, связанных с безопасным проведением грузовых операций.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/>
              <a:t>Основные судовые </a:t>
            </a:r>
            <a:r>
              <a:rPr lang="ru-RU" dirty="0" smtClean="0"/>
              <a:t>документы на танкерах</a:t>
            </a:r>
            <a:endParaRPr lang="ru-RU" dirty="0"/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785813" y="2203450"/>
            <a:ext cx="10045700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</a:pPr>
            <a:endParaRPr lang="ru-RU"/>
          </a:p>
          <a:p>
            <a:pPr defTabSz="914400">
              <a:spcBef>
                <a:spcPct val="50000"/>
              </a:spcBef>
              <a:buFontTx/>
              <a:buChar char="•"/>
            </a:pPr>
            <a:r>
              <a:rPr lang="ru-RU" sz="2400"/>
              <a:t>Журнал нефтяных операций для нефтяных танкеров</a:t>
            </a:r>
          </a:p>
          <a:p>
            <a:pPr defTabSz="914400">
              <a:spcBef>
                <a:spcPct val="50000"/>
              </a:spcBef>
              <a:buFontTx/>
              <a:buChar char="•"/>
            </a:pPr>
            <a:r>
              <a:rPr lang="ru-RU" sz="2400"/>
              <a:t>Свидетельство о предотвращении загрязнения нефтью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/>
              <a:t>Заключение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351338"/>
          </a:xfrm>
        </p:spPr>
        <p:txBody>
          <a:bodyPr>
            <a:normAutofit fontScale="85000" lnSpcReduction="20000"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Перевозка </a:t>
            </a:r>
            <a:r>
              <a:rPr lang="ru-RU" dirty="0"/>
              <a:t>нефтяных грузов морем является, возможно, самой важной, необходимой для экономических структур всех стран мира перевозкой. Ситуация в наши дни такова, что человечество очень серьезно зависит от индустриализации производства, а для этого, в свою очередь, необходимо сырье и топливо. Поэтому от перевозки нефти и нефтепродуктов зависит благополучие многих стран, которые не имеют запасов и источников сырья на своей территории.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/>
              <a:t>Так как нефть является невероятно ценным товаром на мировом рынке, её перевозка должна соответствовать всем требованиям безопасности, которые устанавливают различные национальные и международные документы.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/>
              <a:t>Стоит отметить, что для контроля выполнения судами различных требований, установленных в руководящих документах и конвенциях, существует ряд комиссий и инспекций, чья работа помогает предотвратить возможные аварии на море и в порт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337</TotalTime>
  <Words>749</Words>
  <Application>Microsoft Office PowerPoint</Application>
  <PresentationFormat>Широкоэкранный</PresentationFormat>
  <Paragraphs>83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Corbel</vt:lpstr>
      <vt:lpstr>Глубина</vt:lpstr>
      <vt:lpstr>Презентация PowerPoint</vt:lpstr>
      <vt:lpstr>Презентация PowerPoint</vt:lpstr>
      <vt:lpstr>Нормативные документы, регламентирующие перевозку нефтепродуктов</vt:lpstr>
      <vt:lpstr> Классификация, свойства и условное обозначение нефти </vt:lpstr>
      <vt:lpstr>Презентация PowerPoint</vt:lpstr>
      <vt:lpstr>Общие требования руководящих документов</vt:lpstr>
      <vt:lpstr>Подготовка к погрузке</vt:lpstr>
      <vt:lpstr>Погрузка нефти</vt:lpstr>
      <vt:lpstr>Перевозка нефти</vt:lpstr>
      <vt:lpstr>Выгрузка нефти</vt:lpstr>
      <vt:lpstr>Основные судовые документы на танкерах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Перевозка нефти и нефтепродуктов</dc:title>
  <dc:creator>User</dc:creator>
  <cp:lastModifiedBy>User</cp:lastModifiedBy>
  <cp:revision>18</cp:revision>
  <dcterms:created xsi:type="dcterms:W3CDTF">2019-11-05T16:40:26Z</dcterms:created>
  <dcterms:modified xsi:type="dcterms:W3CDTF">2019-11-06T11:53:41Z</dcterms:modified>
</cp:coreProperties>
</file>