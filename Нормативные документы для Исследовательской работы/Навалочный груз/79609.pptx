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2" r:id="rId5"/>
    <p:sldId id="259" r:id="rId6"/>
    <p:sldId id="260" r:id="rId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462" y="-7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Скругленный прямоугольник 12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6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9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Прямоугольник 10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1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2A929-D747-4091-9396-1DF8C70396CC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12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46FDEB4-6603-4BF5-A6EE-F038566867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99E86-93F0-4344-9B63-AAC699EDF78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C6272-E958-4A75-BC0C-B2881EBA10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6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7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8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995F2-5ADB-4789-A7F5-7FABD5950F6E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D8D5C-35CB-4973-86B1-F597AE259A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8C76C-9869-4D80-A3C3-AF846BC3DB88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6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9264A-B18C-40CE-B1D3-27DAFA53ADF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E7BF8-219F-46D6-B0A5-CF9D5F13050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8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0A67E-6759-4AC6-BDF3-7B5AC93A90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BD97F-BABC-45B0-8A27-3827369132DF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4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7D5C9-3FF0-45B1-9AE7-7F58622021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7B500-6F92-4C5C-AF37-C2B4FC45CE2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73320-0C31-4644-9C1A-F7D2DBC320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Скругленный прямоугольник 8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B40B5-77EC-474A-BA34-FDD1656A2A2A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8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4594-2CDF-4794-AF71-36D4E90430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11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12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64FD3-2C90-47EE-A912-1E90C1A1CAC3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1990A-DED9-4187-B56D-CD3E69C778A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EFECD-F192-4D92-BE29-6D69AEE19967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49EA5-4C53-4977-B3EE-EB6BBB8246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58A65-9A18-445F-A36E-9CB4E3FD92CB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B147C-2908-405A-8D53-F5286043789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Заголовок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29" name="Текст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55BFFAB4-8D66-4B99-BB96-C0DFDC4B2BE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1A41BDA4-6A52-4CA1-9E28-36C7CB51CF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7" r:id="rId2"/>
    <p:sldLayoutId id="2147483709" r:id="rId3"/>
    <p:sldLayoutId id="2147483706" r:id="rId4"/>
    <p:sldLayoutId id="2147483705" r:id="rId5"/>
    <p:sldLayoutId id="2147483704" r:id="rId6"/>
    <p:sldLayoutId id="2147483703" r:id="rId7"/>
    <p:sldLayoutId id="2147483710" r:id="rId8"/>
    <p:sldLayoutId id="2147483711" r:id="rId9"/>
    <p:sldLayoutId id="2147483702" r:id="rId10"/>
    <p:sldLayoutId id="214748370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fontAlgn="base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Заголовок 1"/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r>
              <a:rPr lang="ru-RU" smtClean="0"/>
              <a:t>Перевозка навалочных зерновых грузов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2339975" y="4292600"/>
            <a:ext cx="6588125" cy="2173288"/>
          </a:xfrm>
        </p:spPr>
        <p:txBody>
          <a:bodyPr>
            <a:normAutofit/>
          </a:bodyPr>
          <a:lstStyle/>
          <a:p>
            <a:pPr algn="r"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Работу </a:t>
            </a: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</a:rPr>
              <a:t>выпоняли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r"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Алексеев Д.</a:t>
            </a:r>
          </a:p>
          <a:p>
            <a:pPr algn="r"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Сотский И.</a:t>
            </a:r>
          </a:p>
          <a:p>
            <a:pPr algn="r" fontAlgn="auto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Назаров А.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Заголовок 1"/>
          <p:cNvSpPr>
            <a:spLocks noGrp="1"/>
          </p:cNvSpPr>
          <p:nvPr>
            <p:ph type="title"/>
          </p:nvPr>
        </p:nvSpPr>
        <p:spPr>
          <a:xfrm>
            <a:off x="971550" y="0"/>
            <a:ext cx="7772400" cy="1143000"/>
          </a:xfrm>
        </p:spPr>
        <p:txBody>
          <a:bodyPr/>
          <a:lstStyle/>
          <a:p>
            <a:r>
              <a:rPr lang="ru-RU" u="sng" smtClean="0">
                <a:solidFill>
                  <a:schemeClr val="tx1"/>
                </a:solidFill>
              </a:rPr>
              <a:t>Определение</a:t>
            </a:r>
          </a:p>
        </p:txBody>
      </p:sp>
      <p:pic>
        <p:nvPicPr>
          <p:cNvPr id="14338" name="Picture 2" descr="Картинки по запросу злаки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484313"/>
            <a:ext cx="223202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4" descr="Картинки по запросу бобовые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63938" y="1412875"/>
            <a:ext cx="2520950" cy="224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6" descr="Картинки по запросу масличные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43663" y="1412875"/>
            <a:ext cx="2232025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899592" y="4149080"/>
            <a:ext cx="7776864" cy="20313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endParaRPr lang="ru-RU">
              <a:solidFill>
                <a:schemeClr val="tx1"/>
              </a:solidFill>
              <a:latin typeface="Arial" charset="0"/>
            </a:endParaRPr>
          </a:p>
          <a:p>
            <a:r>
              <a:rPr lang="ru-RU">
                <a:solidFill>
                  <a:schemeClr val="tx1"/>
                </a:solidFill>
                <a:latin typeface="Arial" charset="0"/>
              </a:rPr>
              <a:t>Навалочный груз означает любой груз, иной чем жидкость или газ, состоящий из сочетания частиц, гранул или более крупных кусков, обычно однородный по составу, который грузится непосредственно в грузовые помещения судна без использования какой-либо промежуточной тары.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u="sng" smtClean="0"/>
              <a:t>Классификация груза</a:t>
            </a:r>
            <a:r>
              <a:rPr lang="ru-RU" smtClean="0"/>
              <a:t> </a:t>
            </a:r>
          </a:p>
        </p:txBody>
      </p:sp>
      <p:graphicFrame>
        <p:nvGraphicFramePr>
          <p:cNvPr id="16447" name="Group 63"/>
          <p:cNvGraphicFramePr>
            <a:graphicFrameLocks noGrp="1"/>
          </p:cNvGraphicFramePr>
          <p:nvPr/>
        </p:nvGraphicFramePr>
        <p:xfrm>
          <a:off x="468313" y="1844675"/>
          <a:ext cx="8135937" cy="4402138"/>
        </p:xfrm>
        <a:graphic>
          <a:graphicData uri="http://schemas.openxmlformats.org/drawingml/2006/table">
            <a:tbl>
              <a:tblPr/>
              <a:tblGrid>
                <a:gridCol w="2713037"/>
                <a:gridCol w="2709863"/>
                <a:gridCol w="2713037"/>
              </a:tblGrid>
              <a:tr h="122396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Навалочные грузы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03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Гр. А. опасные возможностью разжижения и «сухого смещения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Гр. Б. обладающие опасностью только «сухого смещения»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itchFamily="18" charset="0"/>
                        </a:rPr>
                        <a:t>Гр. С. включает грузы, которые не способны разжижаться (группа А) и не имеют опасных химических свойств (группа В)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75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buNone/>
                        <a:tabLst/>
                      </a:pPr>
                      <a:endParaRPr kumimoji="0" lang="ru-RU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smtClean="0"/>
          </a:p>
        </p:txBody>
      </p:sp>
      <p:pic>
        <p:nvPicPr>
          <p:cNvPr id="4" name="Picture 4" descr="Картинки по запросу заполненый отсек трюма судна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79613" y="1916113"/>
            <a:ext cx="5410200" cy="3619500"/>
          </a:xfrm>
        </p:spPr>
      </p:pic>
      <p:pic>
        <p:nvPicPr>
          <p:cNvPr id="1026" name="Picture 2" descr="Картинки по запросу частично заполненный отсек трюма судна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1913" y="1628775"/>
            <a:ext cx="6480175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187450" y="3068638"/>
            <a:ext cx="74168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/>
              <a:t>В зависимости от свойств грузов и вида опасности их разделяют на группы и подгруппы, присваивая им соответствующие индексы, которые указываются в правом верхнем углу КТР. Все навалочные грузы разделены на две группы. В группу А входят грузы, опасные возможностью разжижения и «сухого смещения». В группу Б входят грузы, обладающие опасностью только «сухого смещения». Если груз обладает опасностью самосогревания, самовозгорания, выделения взрывчатых или ядовитых газов, то к символу группы добавляется индекс С. Указанные группы делятся на подгруппы и в этом случае им присваиваются дополнительные индексы.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mtClean="0">
                <a:solidFill>
                  <a:schemeClr val="tx1"/>
                </a:solidFill>
              </a:rPr>
              <a:t>Погрузка, выгрузка и размещение навалочных грузов</a:t>
            </a:r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 bwMode="auto">
          <a:xfrm>
            <a:off x="468313" y="1530350"/>
            <a:ext cx="8351837" cy="512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180975" algn="just"/>
            <a:r>
              <a:rPr lang="ru-RU" sz="1000"/>
              <a:t>1 Для целей настоящего правила представитель терминала означает лицо, назначенное терминалом или иным учреждением, где загружается или разгружается судно, которое несет ответственность за операции, проводимые этим терминалом или учреждением в отношении конкретного судна.</a:t>
            </a:r>
          </a:p>
          <a:p>
            <a:pPr indent="180975" algn="just"/>
            <a:r>
              <a:rPr lang="ru-RU" sz="1000"/>
              <a:t>2 Для того чтобы капитан мог предотвратить чрезмерные напряжения в корпусе, судно должно быть обеспечено буклетом, составленным на языке, который знает командный состав, ответственный за грузовые операции на судне. Если этот язык не является английским, судно должно быть обеспечено буклетом также и на английском языке. Буклет, как минимум, должен включать:</a:t>
            </a:r>
          </a:p>
          <a:p>
            <a:pPr indent="180975" algn="just"/>
            <a:r>
              <a:rPr lang="ru-RU" sz="1000"/>
              <a:t>.1 данные об остойчивости, требуемые правилом II-1/5-1;</a:t>
            </a:r>
          </a:p>
          <a:p>
            <a:pPr indent="180975" algn="just"/>
            <a:r>
              <a:rPr lang="ru-RU" sz="1000"/>
              <a:t>.2 вместимость балластных танков и производительность средств приема и откачки балласта;</a:t>
            </a:r>
          </a:p>
          <a:p>
            <a:pPr indent="180975" algn="just"/>
            <a:r>
              <a:rPr lang="ru-RU" sz="1000"/>
              <a:t>.3 максимально допустимую нагрузку на единицу поверхности настила второго дна;</a:t>
            </a:r>
          </a:p>
          <a:p>
            <a:pPr indent="180975" algn="just"/>
            <a:r>
              <a:rPr lang="ru-RU" sz="1000"/>
              <a:t>.4 максимально допустимую нагрузку на трюм;</a:t>
            </a:r>
          </a:p>
          <a:p>
            <a:pPr indent="180975" algn="just"/>
            <a:r>
              <a:rPr lang="ru-RU" sz="1000"/>
              <a:t>.5 инструкции общего характера по погрузке и выгрузке в отношении прочности конструкции корпуса судна, включая любые ограничения по наихудшим условиям эксплуатации во время погрузки, выгрузки, балластных операций и рейса;</a:t>
            </a:r>
          </a:p>
          <a:p>
            <a:pPr indent="180975" algn="just"/>
            <a:r>
              <a:rPr lang="ru-RU" sz="1000"/>
              <a:t>.6 любые специальные ограничения, такие как ограничения по наихудшим условиям эксплуатации, предписанные Администрацией или признанной ею организацией, если это применимо; и</a:t>
            </a:r>
          </a:p>
          <a:p>
            <a:pPr indent="180975" algn="just"/>
            <a:r>
              <a:rPr lang="ru-RU" sz="1000"/>
              <a:t>.7 где требуются расчеты на прочность - максимальные разрешенные усилия и моменты, воздействующие на корпус судна при погрузке, выгрузке и в рейсе.</a:t>
            </a:r>
          </a:p>
          <a:p>
            <a:pPr indent="180975" algn="just"/>
            <a:r>
              <a:rPr lang="ru-RU" sz="1000"/>
              <a:t>3 Перед погрузкой или выгрузкой навалочного груза капитан и представитель терминала должны составить согласованный план, обеспечивающий, чтобы разрешенные усилия и моменты, воздействующие на судно, не превышались при погрузке или выгрузке; план должен включать последовательность, количество и требуемое время на погрузку или выгрузку, принимая во внимание производительность средств погрузки или выгрузки, количество питателей (конвейеров) и возможности судна по приему или откачке балласта. План и любые последующие изменения в нем должны передаваться на хранение соответствующему органу государства порта.</a:t>
            </a:r>
          </a:p>
          <a:p>
            <a:pPr indent="180975" algn="just"/>
            <a:r>
              <a:rPr lang="ru-RU" sz="1000"/>
              <a:t>4 Капитан и представитель терминала должны обеспечить проведение погрузочно-разгрузочных операций в соответствии с согласованным планом.</a:t>
            </a:r>
          </a:p>
          <a:p>
            <a:pPr indent="180975" algn="just"/>
            <a:r>
              <a:rPr lang="ru-RU" sz="1000"/>
              <a:t>5 Если в ходе погрузки или выгрузки любой из показателей судна, упомянутых в пункте 2, будет превышен или может быть превышен, если погрузка или выгрузка будет продолжена, капитан имеет право приостановить грузовые операции и обязан известить об этом соответствующий орган государства порта, которому передан на хранение план. Капитан и представитель терминала должны обеспечить принятие мер по исправлению положения. Капитан и представитель терминала должны обеспечить, чтобы используемый метод выгрузки не наносил повреждений корпусу судна.</a:t>
            </a:r>
          </a:p>
          <a:p>
            <a:pPr indent="180975" algn="just"/>
            <a:r>
              <a:rPr lang="ru-RU" sz="1000"/>
              <a:t>6 Капитан должен обеспечить, чтобы персонал судна постоянно контролировал грузовые операции. Где это возможно, должна регулярно замеряться осадка судна при погрузке или выгрузке с целью подтверждения указанного терминалом количества обработанного груза. Каждый замер осадки и количество груза заносится в грузовой журнал. Если выявлены значительные отклонения от согласованного плана, грузовые и/или балластные операции должны быть скорректированы с целью исправления отклонений.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Укладка и крепление</a:t>
            </a:r>
          </a:p>
        </p:txBody>
      </p:sp>
      <p:sp>
        <p:nvSpPr>
          <p:cNvPr id="18434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smtClean="0"/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900113" y="1412875"/>
            <a:ext cx="77755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000"/>
              <a:t>1 Груз, грузовые места и грузовые транспортные единицы, перевозимые на или под палубой, должны быть так погружены, уложены и закреплены, чтобы предотвратить, насколько это практически возможно, в течение всего рейса повреждение или опасность для судна и людей на борту и потерю груза за борт судна.</a:t>
            </a:r>
          </a:p>
          <a:p>
            <a:r>
              <a:rPr lang="ru-RU" sz="1000"/>
              <a:t>2 Груз, перевозимый в грузовом месте и грузовой транспортной единице, должен быть так уложен и закреплен внутри грузового места и грузовой транспортной единицы, чтобы предотвратить в течение всего рейса повреждение или опасность для судна и людей на борту.</a:t>
            </a:r>
          </a:p>
          <a:p>
            <a:r>
              <a:rPr lang="ru-RU" sz="1000"/>
              <a:t>3 Соответствующие меры предосторожности должны быть приняты во время погрузки и транспортировки тяжеловесных грузов или грузов необычных физических размеров, с тем чтобы обеспечить, что не произойдет конструктивного повреждения судна, и чтобы поддерживать достаточную остойчивость в течение всего рейса.</a:t>
            </a:r>
          </a:p>
          <a:p>
            <a:r>
              <a:rPr lang="ru-RU" sz="1000"/>
              <a:t>4 Соответствующие меры предосторожности должны быть приняты во время погрузки и транспортировки грузовых мест и грузовых транспортных единиц на борту судов ро-ро, в особенности в отношении устройств крепления на таких судах и на грузовых местах и грузовых транспортных единицах и в отношении прочности точек крепления и найтовов.</a:t>
            </a:r>
          </a:p>
          <a:p>
            <a:r>
              <a:rPr lang="ru-RU" sz="1000"/>
              <a:t>5 Грузовые контейнеры не должны загружаться сверх максимального веса брутто, указанного на табличке о допущении по условиям эксплуатации, согласно Международной конвенции по безопасным контейнерам (КБК) с поправками.</a:t>
            </a:r>
          </a:p>
          <a:p>
            <a:r>
              <a:rPr lang="ru-RU" sz="1000"/>
              <a:t>6 Все грузы, кроме навалочных и наливных, грузовые места и грузовые транспортные единицы должны быть погружены, размещены и закреплены в течение всего рейса в соответствии с Наставлением по креплению груза, одобренным Администрацией. На судах, имеющих помещения с горизонтальным способом погрузки и выгрузки, как они определены в правиле II-2/3.41, все крепление таких грузов, грузовых мест и грузовых транспортных единиц в соответствии с Наставлением по креплению груза должно быть закончено до того, как судно отойдет от причала. Наставление по креплению груза должно быть составлено в соответствии со стандартом, по меньшей мере эквивалентным соответствующему руководству,</a:t>
            </a:r>
            <a:endParaRPr lang="en-US" sz="1000"/>
          </a:p>
          <a:p>
            <a:r>
              <a:rPr lang="ru-RU" sz="1000"/>
              <a:t>разработанному Организацией.</a:t>
            </a:r>
          </a:p>
        </p:txBody>
      </p:sp>
      <p:sp>
        <p:nvSpPr>
          <p:cNvPr id="18436" name="AutoShape 2" descr="Картинки по запросу крепление поверхности зерна методом “бандлинг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>
              <a:latin typeface="Cambria" pitchFamily="18" charset="0"/>
            </a:endParaRPr>
          </a:p>
        </p:txBody>
      </p:sp>
      <p:sp>
        <p:nvSpPr>
          <p:cNvPr id="18437" name="AutoShape 4" descr="Картинки по запросу крепление поверхности зерна методом “бандлинг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>
              <a:latin typeface="Cambria" pitchFamily="18" charset="0"/>
            </a:endParaRPr>
          </a:p>
        </p:txBody>
      </p:sp>
      <p:sp>
        <p:nvSpPr>
          <p:cNvPr id="18438" name="AutoShape 6" descr="Картинки по запросу крепление поверхности зерна методом “бандлинг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>
              <a:latin typeface="Cambria" pitchFamily="18" charset="0"/>
            </a:endParaRPr>
          </a:p>
        </p:txBody>
      </p:sp>
      <p:sp>
        <p:nvSpPr>
          <p:cNvPr id="18439" name="AutoShape 8" descr="Картинки по запросу крепление поверхности зерна методом “бандлинг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>
              <a:latin typeface="Cambria" pitchFamily="18" charset="0"/>
            </a:endParaRPr>
          </a:p>
        </p:txBody>
      </p:sp>
      <p:sp>
        <p:nvSpPr>
          <p:cNvPr id="18440" name="AutoShape 10" descr="Картинки по запросу крепление поверхности зерна методом “бандлинг”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>
              <a:latin typeface="Cambria" pitchFamily="18" charset="0"/>
            </a:endParaRPr>
          </a:p>
        </p:txBody>
      </p:sp>
      <p:pic>
        <p:nvPicPr>
          <p:cNvPr id="3084" name="Picture 12" descr="http://www.msun.ru/folders/edu_lit/kaf/sv/data/uchebnik/glava4.files/image1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052513"/>
            <a:ext cx="5400675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6" name="Picture 14" descr="http://www.msun.ru/folders/edu_lit/kaf/sv/data/uchebnik/glava4.files/image10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2225" y="1052513"/>
            <a:ext cx="22860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0.33333  E" pathEditMode="relative" ptsTypes="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4" grpId="2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188</TotalTime>
  <Words>878</Words>
  <Application>Microsoft Office PowerPoint</Application>
  <PresentationFormat>Экран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Шаблон оформления</vt:lpstr>
      </vt:variant>
      <vt:variant>
        <vt:i4>5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Cambria</vt:lpstr>
      <vt:lpstr>Arial</vt:lpstr>
      <vt:lpstr>Calibri</vt:lpstr>
      <vt:lpstr>Wingdings 2</vt:lpstr>
      <vt:lpstr>Perpetua</vt:lpstr>
      <vt:lpstr>Справедливость</vt:lpstr>
      <vt:lpstr>Справедливость</vt:lpstr>
      <vt:lpstr>Справедливость</vt:lpstr>
      <vt:lpstr>Справедливость</vt:lpstr>
      <vt:lpstr>Справедливость</vt:lpstr>
      <vt:lpstr>Перевозка навалочных зерновых грузов</vt:lpstr>
      <vt:lpstr>Определение</vt:lpstr>
      <vt:lpstr>Классификация груза </vt:lpstr>
      <vt:lpstr>Слайд 4</vt:lpstr>
      <vt:lpstr>Погрузка, выгрузка и размещение навалочных грузов</vt:lpstr>
      <vt:lpstr>Укладка и крепление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Перевозка навалочных зерновых грузов</dc:title>
  <dc:creator>A</dc:creator>
  <cp:lastModifiedBy>KafSV</cp:lastModifiedBy>
  <cp:revision>18</cp:revision>
  <dcterms:created xsi:type="dcterms:W3CDTF">2016-09-26T13:31:04Z</dcterms:created>
  <dcterms:modified xsi:type="dcterms:W3CDTF">2002-01-01T00:34:48Z</dcterms:modified>
</cp:coreProperties>
</file>